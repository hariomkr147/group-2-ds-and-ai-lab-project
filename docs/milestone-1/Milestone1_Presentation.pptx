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is cross-referenced and propagated across courses. Mapping to be confirmed from IITM course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APIs play only a minor part; the main brain is our own DL/GenAI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ASSISTments row format (data sample required by the brief): each row is one answer by one student. Row 1: student 64525 got an Equivalent Fractions question wrong on the first try (correct = 0) and needed 2 hints. Row 2: on the next question on the same skill, they got it right (correct = 1) with no hints. DKT reads thousands of such sequences and learns, e.g., that this student is improving at equivalent fractions. Values show the format; they are not real rows from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697480"/>
            <a:ext cx="1097280" cy="54864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Socratic AI Tutor</a:t>
            </a:r>
          </a:p>
          <a:p>
            <a:pPr algn="l"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Guiding learners to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E6E9"/>
                </a:solidFill>
                <a:latin typeface="Calibri"/>
              </a:rPr>
              <a:t>A study companion for IITM BS learners that guides them to the answer through probing questions, backtracking to earlier courses when needed. One pipeline, any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Milestone 1  ·  Group 2  ·  Data Science and AI Lab, IIT Madras 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E6E9"/>
                </a:solidFill>
                <a:latin typeface="Calibri"/>
              </a:rPr>
              <a:t>Sandeep Nalla (21f1006125)  ·  Hariom Kumar (23f2004225)  ·  Hariom Pandey (21f3002112)  ·  Mrityunjay Chakraborty (21f3001385)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E6E9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Help the learner reach the answer themselves, instead of giving it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Break down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doubt into
sub-ideas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7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Probe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question
at a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Feedback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spot misconceptions,
link a lecture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9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Backtrack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 an earlier course
if there is a gap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72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5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Climb 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raise difficulty
step by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Domain-agnostic: each subject is a “course pack”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88920"/>
                <a:gridCol w="27889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Concepts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Prerequisite links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Study material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topics with IDs and courses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“A is needed before B”, across courses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transcripts, slides, PDFs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answers, hints, difficulty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4864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IITM BS courses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Maths &amp; Stats → MLF → MLT, e.g. “How does training happen in Linear Regression?”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Second domain: NCERT Mathematics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several classes that build on each other, to show the pipeline is reusable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Learning builds across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If a learner is stuck, the tutor finds the gap in an earlier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232257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1F1F"/>
                </a:solidFill>
                <a:latin typeface="Calibri"/>
              </a:rPr>
              <a:t>Maths 1 · Stats 1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Functions, slope
Mean, variance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240280"/>
            <a:ext cx="36576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8328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600200"/>
            <a:ext cx="232257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1F1F"/>
                </a:solidFill>
                <a:latin typeface="Calibri"/>
              </a:rPr>
              <a:t>Maths 2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Vectors, dot product
Derivatives, chain rule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240280"/>
            <a:ext cx="36576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600200"/>
            <a:ext cx="232257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1F1F"/>
                </a:solidFill>
                <a:latin typeface="Calibri"/>
              </a:rPr>
              <a:t>MLF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Loss functions
Gradient descent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0" y="2240280"/>
            <a:ext cx="36576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52560" y="1600200"/>
            <a:ext cx="2468880" cy="128016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1600200"/>
            <a:ext cx="232257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MLT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Training linear
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Example: “How does training happen in Linear Regression?”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6118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the tutor does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1. Probe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Supervised learning → prediction y = w·x → squared error → “what is dL/dw?”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2. Backtrack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Gap found in derivatives (Maths 2) → checks slope of a line (Maths 1) if needed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3. Practise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 few slope and derivative questions with hints and a link to the Maths 2 lecture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4. Climb back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derivative of w² → chain rule → gradient → gradient descent update (MLF, MLT)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Existing solutions and their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Missing for our problem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Khanmigo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Builds understanding by questioning students, based on their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External LLM (GPT-4) driven by prompts; no backtracking across levels; Khan content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ChatGPT / Gemini study modes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Natural conversation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Driven by a system prompt; no memory of skills; can give away answers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MATHia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Adapts per student; step-by-step guidance, real-time feedback, targeted practice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Paid, closed; fixed maths curriculum; fixed step paths, no free conversation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ALEKS (adaptive system, not a chat assistant)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Finds what a student is ready to learn next, using prerequisites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conversation or probing questions; paid, closed, fixed curriculum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Free platform for teachers to give students personalized feedback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Hints written by teachers in advance; no conversation or 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Course portals (IITM BS, DIKSHA)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Host content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Don't diagnose why a student is stuck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What we add (MATHia and Khanmigo are closest; we combine their ideas with our own models)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Our own trained models as the main brain, not an LLM API with a system prompt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A learner model that remembers which concepts the student knows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Backtracking across courses, then climbing back up to the learner’s question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Feedback with the exact IITM lecture, slide or assignment to revisit; works for any course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Research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  <p:pic>
        <p:nvPicPr>
          <p:cNvPr id="6" name="Picture 5" descr="kt_auc_assist2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3026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Predicting student knowledge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DKT (Deep Knowledge Tracing, an LSTM we will train) scores AUC 0.754 on cleaned ASSISTments data. 0.5 = random guess, 1.0 = perfect.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AI chat tutors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20624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Research on tutoring dialogues: prompted AI teachers often reveal the answer; fine-tuned models guide better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Bastani et al. 2025: plain GPT-4 → +48% in practice but −17% on the exam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Lesson: a system-prompted chatbot is not enough; the tutor needs its own trained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Our approach: our own models are the main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62179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Built by us?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Learner model (DKT)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Estimates what the learner knows for each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Tutor controller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written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Decides: probe, hint, backtrack a course, retest, move up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Socratic question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fine-tuned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Qwen3-4B + LoRA on tutoring dialogues + our IITM BS examples: writes probing questions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Misconception detector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Spots common error patterns (e.g. a sign error in the gradient)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Search (RAG)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pretrained embeddings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Finds the lecture, slide or assignment for a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External LLM API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✗ optional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Only drafts practice questions offline (checked) and serves as a baseline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Stack: React web app · FastAPI backend · PostgreSQL + pgvector · PyTorch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New course = new course pack + ingestion script. New course with no student data → simple fallback until DKT is retrained.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Datasets and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19202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IITM BS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(primary)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gathered by 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 2009–10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Real student answer histories to train DKT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~346k answers, 4,217 students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EdNet KT1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 (larger)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~95M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Tutoring dialogues + our IITM examples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Fine-tune 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public set + written by us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NCERT Maths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(second)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several classes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77639"/>
            <a:ext cx="5852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Why ASSISTments for DKT: real, time-ordered student answers (IITM has none public); the standard DKT benchmark, so our results can be checked; maths skills; free for research.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Licenses of all public datasets are checked before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5852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ASSISTments row format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5303520"/>
          <a:ext cx="58521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74320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hints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118872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IITM BS training example → Socratic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645920"/>
            <a:ext cx="4937760" cy="30175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737360"/>
            <a:ext cx="466344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Input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Concept: derivatives (Maths 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Question: For L(w) = (6 − 2w)², what is dL/dw?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“I don’t know”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Controller action: PROBE (a prerequisite); don’t reveal the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Resource: Maths 2, Week 5, Lecture 2 (08:15)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Target reply (probing)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“Let’s step back. For y = 3x + 1, how much does y change when x increases by 1?”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Each example is labelled probing / focus / telling, so the model learns to probe instead of tell. Illustrative example written by the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Baselines, targets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474720"/>
                <a:gridCol w="2468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Simple accuracy; published DKT 0.754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0.74, better than simple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replies revealing the answer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model; LLM API + system prompt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5%, lower than both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gaps found in the right course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resource in top 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Keyword 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Full tutor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test scenarios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Fixed rules; 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How we will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60–100 annotated IITM scenarios (careless slip, gap 1 course back, gap 2 courses back…) + any provided test samples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Compare: direct-answer chatbot vs LLM API with Socratic prompt vs our tutor; also vs published research numbers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Same tests on the IITM BS and NCERT course packs, with no code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Expected output (mock-up)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676656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658368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Learner: How does training happen in Linear Regression?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In supervised learning, what do we give the model?   Learner: Inputs and outputs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y = w·x, w = [2,1], x = [3,4]. Prediction?   Learner: 10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True y is 12. Squared error?   Learner: 4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For L(w) = (6 − 2w)², what is dL/dw?   Learner: I don’t know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7C8C"/>
                </a:solidFill>
                <a:latin typeface="Calibri"/>
              </a:rPr>
              <a:t>[gap in Maths 2: derivatives → checking Maths 1: slope]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For y = 3x + 1, how much does y change when x goes up by 1?   Learner: 3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Derivative of w²?  📺 Maths 2, Week 5, Lecture 2 (08:15)   Learner: 2w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7C8C"/>
                </a:solidFill>
                <a:latin typeface="Calibri"/>
              </a:rPr>
              <a:t>[back to Maths 2]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Chain rule on (6 − 2w)²?   Learner: −4(6 − 2w) ✓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7C8C"/>
                </a:solidFill>
                <a:latin typeface="Calibri"/>
              </a:rPr>
              <a:t>[back to MLF / MLT]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1F1F"/>
                </a:solidFill>
                <a:latin typeface="Calibri"/>
              </a:rPr>
              <a:t>Tutor: At w = 1 the gradient is −16. Should w go up or down?   Learner: Up ✓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1F1F"/>
                </a:solidFill>
                <a:latin typeface="Calibri"/>
              </a:rPr>
              <a:t>Tutor: Exactly: w ← w − η × gradient. That’s how linear regression is trained!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4300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Progress report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600200"/>
          <a:ext cx="4023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3152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Course: concept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Readiness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Maths 1: slope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Maths 2: derivatives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MLF: gradient descent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MLT: linear regression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0.60 · practise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3749039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LLM API vs our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4023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API + prompt: explains MSE and gradient descent all at once. Learner never checked; the derivative gap stays hidden.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Ours: finds the derivative gap, revisits Maths 1 and 2, returns to MLT; learner works out the update rule.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Summary and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A study companion for IITM BS learners that guides them to the answer with probing questions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Our own trained models are the main brain: DKT, controller, fine-tuned Socratic model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Backtracks across courses (Maths → MLF → MLT) to fix gaps, then climbs back up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Links mistakes to the exact lecture, slide or assignment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Domain-agnostic: IITM BS (primary) and NCERT Maths via course packs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Evaluated against an LLM-API + system-prompt tutor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Sandeep Nalla (21f1006125)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Kumar (23f2004225)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Pandey (21f3002112)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Mrityunjay Chakraborty (21f3001385)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