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8552F3-EB7E-4C2B-B4BC-CA5B5F30B662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49467A-F126-4FE8-A62C-6E46DF8ADC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744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Learning is cross-referenced and propagated across levels. Levels map to NCERT classes (to be confirmed from the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ASSISTments row format (data sample required by the brief): each row is one answer by one student. Row 1: student 64525 got an Equivalent Fractions question wrong on the first try (correct = 0) and needed 2 hints. Row 2: on the next question on the same skill, they got it right (correct = 1) with no hints. DKT reads thousands of such sequences and learns, e.g., that this student is improving at equivalent fractions. Values show the format; they are not real rows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An intelligent small-scale tutor that guides a learner to the answer through probing questions, backtracking across levels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resource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level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PDFs, slides,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NCERT content (any subject)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public, complete data across classes and subjects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Secondary: IITM BS course material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→ MLF → MLT, e.g. “How does training happen in Linear Regression?”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Addition · Subtraction
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8912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Division
Fractions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1600200"/>
            <a:ext cx="3145536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Level 3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Decimals
Percentages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stuck on “What is 20% of 50?”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“What does 20% mean: 20 out of how many?”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fractions (Level 2) → checks division → multiplication (Level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division and fraction questions with hints and a link to the NCERT page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1/5 of 50 → 1/4 of 20 → back to 20% of 50 → harder: 15% of 60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MathGPT.ai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Socratic tutor: withholds answers, guides with hints; 50+ US colleges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College maths only; no learner model or backtracking;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/ Claude learning modes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 in a guiding, question-asking style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Squirrel AI, ALEKS (adaptive)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Diagnose gaps on a knowledge graph; pick what to learn next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Recommend practice, no probing conversation; paid,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Alakh AI (Physics Wallah, NCERT)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24/7 doubt answering (text, photo, voice); questions from NCERT 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Mainly answers doubts; no probing or backtracking; closed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BYJU'S WIZ, Embibe (NCERT)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Knowledge tracing; Embibe tracks gaps from earlier grades; TeacherGPT guides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Closed, self-reported results; practice-based, not a probing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add: one open loop that converses, tracks the learner and backtracks across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Our own trained models as the main brain (not an LLM API with a system prompt), evaluated openly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Probing questions + backtracking across levels,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Links to the exact page, video or notes; works for any subject via course packs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2095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1F1F1F"/>
                </a:solidFill>
                <a:latin typeface="Calibri"/>
              </a:rPr>
              <a:t>DKT (Deep Knowledge Tracing, an LSTM we will train) scores AUC 0.754 on cleaned </a:t>
            </a:r>
            <a:r>
              <a:rPr sz="1400" b="0" dirty="0" err="1">
                <a:solidFill>
                  <a:srgbClr val="1F1F1F"/>
                </a:solidFill>
                <a:latin typeface="Calibri"/>
              </a:rPr>
              <a:t>ASSISTments</a:t>
            </a:r>
            <a:r>
              <a:rPr sz="1400" b="0" dirty="0">
                <a:solidFill>
                  <a:srgbClr val="1F1F1F"/>
                </a:solidFill>
                <a:latin typeface="Calibri"/>
              </a:rPr>
              <a:t> data. </a:t>
            </a:r>
            <a:endParaRPr lang="en-US" sz="14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endParaRPr lang="en-IN" sz="140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lang="en-IN" sz="1400" dirty="0">
                <a:solidFill>
                  <a:srgbClr val="1F1F1F"/>
                </a:solidFill>
                <a:latin typeface="Calibri"/>
              </a:rPr>
              <a:t>AUC: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1F1F1F"/>
                </a:solidFill>
                <a:latin typeface="Calibri"/>
              </a:rPr>
              <a:t>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Research on tutoring dialogues: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34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level,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tutoring dialogues + our NCERT and IITM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50 ÷ 20 instead of 20/100 × 50)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page, video or notes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textbooks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 and subjects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Real student answer histories to 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Tutoring dialogues + our examples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public set + written by us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77639"/>
            <a:ext cx="585216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Why ASSISTments for DKT: real, time-ordered student answers (none public for NCERT/IITM); the standard DKT benchmark, so our results can be checked; maths skills; free for research.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Licenses of all public datasets are checked before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8521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3035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NCERT training example → Socratic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0175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Input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Concept: percentages (Level 3); prerequisite: fractions (Level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Question: What is 20% of 50?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“2.5”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Controller action: PROBE the meaning of percent; don’t reveal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Resource: NCERT Mathematics, chapter on percentages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Target reply (probing)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“Let’s check together. What does 20% mean: 20 out of how many?”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Each example is labelled probing / focus / telling, so the model learns to probe instead of tell. Illustrative example written by the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at the right level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NCERT scenarios (careless slip, gap 1 level down, gap 2 levels down…) + any provided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the NCERT and IITM BS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3595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B364B"/>
                </a:solidFill>
                <a:latin typeface="Calibri"/>
              </a:rPr>
              <a:t>Learner: What is 20% of 50?  My answer: 2.5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What does 20% mean: 20 out of how many?   Learner: 100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So 20% = 20/100. Simplest form?   Learner: I don’t know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F7C8C"/>
                </a:solidFill>
                <a:latin typeface="Calibri"/>
              </a:rPr>
              <a:t>[gap at Level 2 → checking division]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What is 100 ÷ 20?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5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So 20/100 = 1/5. What is 1/5 of 50?  Hint: 5 equal groups 📖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10 ✓    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And 1/4 of 20?  </a:t>
            </a:r>
            <a:endParaRPr lang="en-US" sz="1200" b="0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Learner: 5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F7C8C"/>
                </a:solidFill>
                <a:latin typeface="Calibri"/>
              </a:rPr>
              <a:t>[back to Level 3]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1F1F1F"/>
                </a:solidFill>
                <a:latin typeface="Calibri"/>
              </a:rPr>
              <a:t>Tutor: Try again: 20% of 50?   </a:t>
            </a:r>
            <a:endParaRPr lang="en-US" sz="1200" b="1" dirty="0">
              <a:solidFill>
                <a:srgbClr val="1F1F1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1F1F1F"/>
                </a:solidFill>
                <a:latin typeface="Calibri"/>
              </a:rPr>
              <a:t>Learner: 10 ✓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Tutor: Earlier you divided 50 by 20; a percentage means “out of 100”.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1F1F1F"/>
                </a:solidFill>
                <a:latin typeface="Calibri"/>
              </a:rPr>
              <a:t>Next: 15% of 60?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0" y="1371600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1851660"/>
            <a:ext cx="402336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1F1F1F"/>
                </a:solidFill>
                <a:latin typeface="Calibri"/>
              </a:rPr>
              <a:t>API + prompt: “20/100 × 50 = 10.” Answer revealed; gap not found.</a:t>
            </a: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1F1F1F"/>
                </a:solidFill>
                <a:latin typeface="Calibri"/>
              </a:rPr>
              <a:t>Ours: finds the fraction gap, </a:t>
            </a:r>
            <a:r>
              <a:rPr sz="1300" b="1" dirty="0" err="1">
                <a:solidFill>
                  <a:srgbClr val="1F1F1F"/>
                </a:solidFill>
                <a:latin typeface="Calibri"/>
              </a:rPr>
              <a:t>practises</a:t>
            </a:r>
            <a:r>
              <a:rPr sz="1300" b="1" dirty="0">
                <a:solidFill>
                  <a:srgbClr val="1F1F1F"/>
                </a:solidFill>
                <a:latin typeface="Calibri"/>
              </a:rPr>
              <a:t> Level 2, returns to Level 3; learner finds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tutor that guides learners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controller, fine-tuned Socratic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levels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page, video or notes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Works for any subject with study material: NCERT (primary) and IITM BS (secondary)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sandeep_na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810512"/>
            <a:ext cx="851611" cy="402336"/>
          </a:xfrm>
          <a:prstGeom prst="rect">
            <a:avLst/>
          </a:prstGeom>
        </p:spPr>
      </p:pic>
      <p:pic>
        <p:nvPicPr>
          <p:cNvPr id="10" name="Picture 9" descr="hariom_kum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359152"/>
            <a:ext cx="1312382" cy="402336"/>
          </a:xfrm>
          <a:prstGeom prst="rect">
            <a:avLst/>
          </a:prstGeom>
        </p:spPr>
      </p:pic>
      <p:pic>
        <p:nvPicPr>
          <p:cNvPr id="11" name="Picture 10" descr="hariom_pande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907791"/>
            <a:ext cx="956140" cy="402336"/>
          </a:xfrm>
          <a:prstGeom prst="rect">
            <a:avLst/>
          </a:prstGeom>
        </p:spPr>
      </p:pic>
      <p:pic>
        <p:nvPicPr>
          <p:cNvPr id="12" name="Picture 11" descr="mrityunjay_chakrabor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3456432"/>
            <a:ext cx="1471400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Signed 22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1828</Words>
  <Application>Microsoft Office PowerPoint</Application>
  <PresentationFormat>Widescreen</PresentationFormat>
  <Paragraphs>238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NALLA SANDEEP</cp:lastModifiedBy>
  <cp:revision>6</cp:revision>
  <dcterms:created xsi:type="dcterms:W3CDTF">2013-01-27T09:14:16Z</dcterms:created>
  <dcterms:modified xsi:type="dcterms:W3CDTF">2026-10-22T18:21:42Z</dcterms:modified>
  <cp:category/>
</cp:coreProperties>
</file>