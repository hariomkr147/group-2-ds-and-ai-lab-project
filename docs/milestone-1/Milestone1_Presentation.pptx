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076CC2-991C-4AE8-9A6D-A0A9C8768589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38B57C-E164-4174-BA4B-8699C44433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0524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Learning is cross-referenced and propagated across levels. Levels map to NCERT classes (to be confirmed from the textbooks).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LLM APIs play only a minor part; the main brain is our own DL/GenAI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ASSISTments row format (data sample required by the brief): each row is one answer by one student. Row 1: student 64525 got an Equivalent Fractions question wrong on the first try (correct = 0) and needed 2 hints. Row 2: on the next question on the same skill, they got it right (correct = 1) with no hints. DKT reads thousands of such sequences and learns, e.g., that this student is improving at equivalent fractions. Values show the format; they are not real rows from the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2697480"/>
            <a:ext cx="1097280" cy="54864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Socratic AI Tutor</a:t>
            </a:r>
          </a:p>
          <a:p>
            <a:pPr algn="l">
              <a:spcAft>
                <a:spcPts val="400"/>
              </a:spcAft>
            </a:pPr>
            <a:r>
              <a:rPr sz="3200" b="0">
                <a:solidFill>
                  <a:srgbClr val="FFFFFF"/>
                </a:solidFill>
                <a:latin typeface="Calibri"/>
              </a:rPr>
              <a:t>Guiding learners to 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51560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CFE6E9"/>
                </a:solidFill>
                <a:latin typeface="Calibri"/>
              </a:rPr>
              <a:t>An intelligent small-scale tutor that guides a learner to the answer through probing questions, backtracking across levels when needed. One pipeline, any course.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515600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Milestone 1  ·  Group 2  ·  Data Science and AI Lab, IIT Madras BS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FE6E9"/>
                </a:solidFill>
                <a:latin typeface="Calibri"/>
              </a:rPr>
              <a:t>Sandeep Nalla (21f1006125)  ·  Hariom Kumar (23f2004225)  ·  Hariom Pandey (21f3002112)  ·  Mrityunjay Chakraborty (21f3001385)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FE6E9"/>
                </a:solidFill>
                <a:latin typeface="Calibri"/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7C8C"/>
                </a:solidFill>
                <a:latin typeface="Calibri"/>
              </a:rPr>
              <a:t>Help the learner reach the answer themselves, instead of giving it directly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2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1600200"/>
            <a:ext cx="1819656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1. Break down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the doubt into
sub-ideas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14600" y="2240280"/>
            <a:ext cx="3200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834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07792" y="1600200"/>
            <a:ext cx="1819656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2. Probe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one question
at a time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800600" y="2240280"/>
            <a:ext cx="3200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120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93792" y="1600200"/>
            <a:ext cx="1819656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3. Feedback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spot misconceptions,
link a resource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086600" y="2240280"/>
            <a:ext cx="3200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06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79792" y="1600200"/>
            <a:ext cx="1819656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4. Backtrack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to an earlier level
if there is a gap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372600" y="2240280"/>
            <a:ext cx="3200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692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765792" y="1600200"/>
            <a:ext cx="1819656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5. Climb back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raise difficulty
step by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246120"/>
            <a:ext cx="110642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7C8C"/>
                </a:solidFill>
                <a:latin typeface="Calibri"/>
              </a:rPr>
              <a:t>Domain-agnostic: each subject is a “course pack”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03320"/>
          <a:ext cx="1106424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Concepts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Prerequisite links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Study material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Questions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topics with IDs and levels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“A is needed before B”, across levels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PDFs, slides, transcripts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answers, hints, difficulty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548640" y="489204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1792" y="4892040"/>
            <a:ext cx="5248656" cy="11887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1F1F"/>
                </a:solidFill>
                <a:latin typeface="Calibri"/>
              </a:rPr>
              <a:t>Primary: NCERT Maths and Science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public, complete data across classes; other subjects can be added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489204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291072" y="4892040"/>
            <a:ext cx="5248656" cy="11887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1F1F"/>
                </a:solidFill>
                <a:latin typeface="Calibri"/>
              </a:rPr>
              <a:t>Secondary: IITM BS course material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Maths → MLF → MLT, e.g. “How does training happen in Linear Regression?”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Learning builds across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7C8C"/>
                </a:solidFill>
                <a:latin typeface="Calibri"/>
              </a:rPr>
              <a:t>If a learner is stuck, the tutor finds the gap in an earlier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3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1600200"/>
            <a:ext cx="3145536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1F1F1F"/>
                </a:solidFill>
                <a:latin typeface="Calibri"/>
              </a:rPr>
              <a:t>Level 1</a:t>
            </a: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Addition · Subtraction
Multiplication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40480" y="2240280"/>
            <a:ext cx="5486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89120" y="1600200"/>
            <a:ext cx="3291840" cy="128016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62272" y="1600200"/>
            <a:ext cx="3145536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1F1F1F"/>
                </a:solidFill>
                <a:latin typeface="Calibri"/>
              </a:rPr>
              <a:t>Level 2</a:t>
            </a: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Division
Fractions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680960" y="2240280"/>
            <a:ext cx="5486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29600" y="1600200"/>
            <a:ext cx="3291840" cy="1280160"/>
          </a:xfrm>
          <a:prstGeom prst="roundRect">
            <a:avLst>
              <a:gd name="adj" fmla="val 8000"/>
            </a:avLst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02752" y="1600200"/>
            <a:ext cx="3145536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Level 3</a:t>
            </a: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Decimals
Percentages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54680"/>
            <a:ext cx="110642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7C8C"/>
                </a:solidFill>
                <a:latin typeface="Calibri"/>
              </a:rPr>
              <a:t>Example: stuck on “What is 20% of 50?”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48640" y="361188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52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the tutor does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1. Probe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“What does 20% mean: 20 out of how many?”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2. Backtrack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Gap found in fractions (Level 2) → checks division → multiplication (Level 1) if needed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3. Practise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A few division and fraction questions with hints and a link to the NCERT page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4. Climb back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1/5 of 50 → 1/4 of 20 → back to 20% of 50 → harder: 15% of 60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Existing solutions and their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4 / 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Solution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Good at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Missing for our problem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1F1F"/>
                          </a:solidFill>
                          <a:latin typeface="Calibri"/>
                        </a:rPr>
                        <a:t>Khanmigo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Builds understanding by questioning students, based on their answers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External LLM (GPT-4) driven by prompts; no backtracking across levels; Khan content only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1F1F"/>
                          </a:solidFill>
                          <a:latin typeface="Calibri"/>
                        </a:rPr>
                        <a:t>MathGPT.ai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Socratic tutor: withholds answers, guides with hints; 50+ US colleges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College maths only; no learner model or backtracking; closed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1F1F"/>
                          </a:solidFill>
                          <a:latin typeface="Calibri"/>
                        </a:rPr>
                        <a:t>ChatGPT / Gemini / Claude learning modes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Natural conversation in a guiding, question-asking style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Driven by a system prompt; no memory of skills; can give away answers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1F1F"/>
                          </a:solidFill>
                          <a:latin typeface="Calibri"/>
                        </a:rPr>
                        <a:t>Squirrel AI, ALEKS (adaptive)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Diagnose gaps on a knowledge graph; pick what to learn next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Recommend practice, no probing conversation; paid, closed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1F1F"/>
                          </a:solidFill>
                          <a:latin typeface="Calibri"/>
                        </a:rPr>
                        <a:t>Alakh AI (Physics Wallah, NCERT)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24/7 doubt answering (text, photo, voice); questions from NCERT books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Mainly answers doubts; no probing or backtracking; closed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1F1F"/>
                          </a:solidFill>
                          <a:latin typeface="Calibri"/>
                        </a:rPr>
                        <a:t>BYJU'S WIZ, Embibe (NCERT)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Knowledge tracing; Embibe tracks gaps from earlier grades; TeacherGPT guides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Closed, self-reported results; practice-based, not a probing conversation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160520"/>
            <a:ext cx="110642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What we add: one open loop that converses, tracks the learner and backtracks across levels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72000"/>
            <a:ext cx="11064240" cy="12801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•  Our own trained models as the main brain (not an LLM API with a system prompt), evaluated openly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•  Probing questions + backtracking across levels, then climbing back up to the learner’s question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•  Links to the exact page, video or notes; works for any subject via course packs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Gaps and opportunities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5 / 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52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12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Gap in existing solutions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Opportunity for us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Chatbots give the answer; prompt-only rules are easy to bypass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Trained Socratic model + layered guardrails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No backtracking across levels in a conversation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Controller model + cross-level prerequisite graph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History mixes across courses and sessions; off-topic input is not handled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DKT memory scoped to one course and session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Research baselines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6 / 13</a:t>
            </a:r>
          </a:p>
        </p:txBody>
      </p:sp>
      <p:pic>
        <p:nvPicPr>
          <p:cNvPr id="6" name="Picture 5" descr="kt_auc_assist2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675120" cy="30260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343400"/>
            <a:ext cx="6583680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Predicting student knowledge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DKT (Deep Knowledge Tracing, an LSTM we will train) scores AUC 0.754 on cleaned ASSISTments data. 0.5 = random guess, 1.0 = perfect.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188720"/>
            <a:ext cx="42062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AI chat tutors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645920"/>
            <a:ext cx="4206240" cy="44805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MathDial: ChatGPT as a tutor revealed the solution in 66% of turns; fine-tuning on tutoring dialogues helps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Bastani et al. 2025: plain GPT-4 → +48% in practice but −17% on the exam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Lesson: a system-prompted chatbot is not enough; the tutor needs its own trained models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Our approach: our own models are the main brain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7 / 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17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Built by us?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Learner model (DKT)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✓ trained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Estimates what the learner knows for each concept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Tutor controller (a model)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✓ trained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Picks the next step: probe, hint, backtrack a level, retest, move up. Fixed rules only as a baseline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Guardrails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✓ built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Keep the tutor on topic and stop answer leakage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Socratic question model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✓ fine-tuned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Qwen3-4B + LoRA on tutoring dialogues + our NCERT and IITM examples: writes probing questions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Misconception detector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✓ built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Spots common error patterns (e.g. 50 ÷ 20 instead of 20/100 × 50)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Search (RAG)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pretrained embeddings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Finds the page, video or notes for a concept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External LLM API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✗ optional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Only drafts practice questions offline (checked) and serves as a baseline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120640"/>
            <a:ext cx="11064240" cy="11887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Stack: React web app · FastAPI backend · PostgreSQL + pgvector · PyTorch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New course = new course pack + ingestion script. New course with no student data → simple fallback until DKT is retrained.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Guardrails and DKT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8 / 13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6309360" cy="47194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1188720"/>
            <a:ext cx="47548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Keeping the tutor on track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645920"/>
            <a:ext cx="4754880" cy="21945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•  System prompt: role, course, never reveal the final answer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•  Input check: on-topic, off-topic or answer request; off-topic gets a polite redirect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•  Output check: scan replies for the answer; regenerate if it leaks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3749039"/>
            <a:ext cx="47548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Keeping DKT history clean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4206240"/>
            <a:ext cx="4754880" cy="2103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•  History kept per learner and per course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•  DKT runs on one session at a time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•  Different-subject or off-topic questions are not stored in DKT memory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•  Risk: DKT can mis-estimate; we check it with pyKT and fall back to simple accuracy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Datasets and samples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9 / 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585216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Size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NCERT textbooks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Course pack (primary)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several classes and subjects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ASSISTments 2009–10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Real student answer histories to train DKT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~346k answers, 4,217 students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EdNet KT1 (optional)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Train DKT (larger)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~95M answers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Tutoring dialogues + our examples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Fine-tune Socratic model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public set + written by us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IITM BS transcripts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Course pack (secondary)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gathered by us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977639"/>
            <a:ext cx="585216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Why ASSISTments for DKT: real, time-ordered student answers (none public for NCERT/IITM); the standard DKT benchmark, so our results can be checked; maths skills; free for research.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Licenses of all public datasets are checked before use.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92040"/>
            <a:ext cx="585216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ASSISTments row format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5303520"/>
          <a:ext cx="585216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correct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hints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64525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Equivalent Fractions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64525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Equivalent Fractions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766560" y="1188720"/>
            <a:ext cx="493776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NCERT training example → Socratic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0" y="1645920"/>
            <a:ext cx="4937760" cy="301752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03720" y="1737360"/>
            <a:ext cx="4663440" cy="2926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364B"/>
                </a:solidFill>
                <a:latin typeface="Calibri"/>
              </a:rPr>
              <a:t>Input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Concept: percentages (Level 3); prerequisite: fractions (Level 2)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Question: What is 20% of 50?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Learner: “2.5”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Controller action: PROBE the meaning of percent; don’t reveal the answer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Resource: NCERT Mathematics, chapter on percentages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B364B"/>
                </a:solidFill>
                <a:latin typeface="Calibri"/>
              </a:rPr>
              <a:t>Target reply (probing)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F1F1F"/>
                </a:solidFill>
                <a:latin typeface="Calibri"/>
              </a:rPr>
              <a:t>“Let’s check together. What does 20% mean: 20 out of how many?”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7C8C"/>
                </a:solidFill>
                <a:latin typeface="Calibri"/>
              </a:rPr>
              <a:t>Each example is labelled probing / focus / telling, so the model learns to probe instead of tell. Illustrative example written by the team.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Baselines, targets and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10 / 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Compared with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Learner model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AUC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Simple accuracy; published DKT 0.754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≥ 0.74, better than simple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Socratic model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% replies revealing the answer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Base model; LLM API + system prompt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Lower than both; aim ≤ 5% (stretch)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Backtracking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% gaps found at the right level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LLM API + system prompt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Beat baseline; aim ≥ 85% (to calibrate)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Controller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% correct next action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Fixed rules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Higher than fixed rules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Guardrails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% off-topic / answer requests handled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System prompt only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≥ 95%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Search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Correct resource in top 5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Keyword search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≥ 0.80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Full tutor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% test scenarios handled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Fixed rules; LLM API + system prompt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≥ 90%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434840"/>
            <a:ext cx="110642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7C8C"/>
                </a:solidFill>
                <a:latin typeface="Calibri"/>
              </a:rPr>
              <a:t>How we will evaluate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11064240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•  60–100 annotated NCERT scenarios (careless slip, gap 1 level down, gap 2 levels down…) + any provided test samples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•  Compare: direct-answer chatbot vs LLM API with Socratic prompt vs our tutor; also vs published research numbers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•  Same tests on the NCERT and IITM BS course packs, with no code changes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Published baselines from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11 / 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17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Published result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Learner model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pyKT benchmark (ASSISTments 2009)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AUC: BKT 0.69, DKT 0.754, DKVMN 0.747, SAKT 0.725, AKT 0.785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Socratic model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MathDial (EMNLP 2023)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ChatGPT as tutor revealed the solution in 66% of turns, gave wrong feedback in 59%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Socratic model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Answer-leakage study (ACL 2026)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Leakage vs a base adversarial student: Qwen-32B 4%, Qwen-7B 14%, SocraticLM 34%, MathDial-SFT 40%; vs a fine-tuned attacker up to 82%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Socratic model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Bastani et al. (PNAS 2025)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Plain GPT-4: 17% worse exam scores; guardrailed version avoided the drop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Backtracking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Pedagogical Suitability Index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Prerequisite-order score 0.56 to 0.64 for current tutors; no paper tests gap-finding accuracy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Search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BEIR (NeurIPS 2021)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BM25 is a strong zero-shot baseline; dense retrievers often fall below it out of domain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Controller, guardrails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None found yet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We will report our own baselines (fixed rules, system prompt only)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Our ≤ 5% leakage and ≥ 85% backtracking aims have no published precedent: we will calibrate them on a pilot. Numbers will be re-checked against the original papers before final submission.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Expected output (mock-up)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12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43000"/>
            <a:ext cx="676656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F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188720"/>
            <a:ext cx="6583680" cy="431913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dirty="0">
                <a:solidFill>
                  <a:srgbClr val="1B364B"/>
                </a:solidFill>
                <a:latin typeface="Calibri"/>
              </a:rPr>
              <a:t>Learner: What is 20% of 50?  </a:t>
            </a:r>
            <a:endParaRPr lang="en-US" sz="1300" b="1" dirty="0">
              <a:solidFill>
                <a:srgbClr val="1B364B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300" b="1" dirty="0">
                <a:solidFill>
                  <a:srgbClr val="1B364B"/>
                </a:solidFill>
                <a:latin typeface="Calibri"/>
              </a:rPr>
              <a:t>My answer: 2.5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1F1F1F"/>
                </a:solidFill>
                <a:latin typeface="Calibri"/>
              </a:rPr>
              <a:t>Tutor: What does 20% mean: 20 out of how many?   </a:t>
            </a:r>
            <a:endParaRPr lang="en-US" sz="1200" b="0" dirty="0">
              <a:solidFill>
                <a:srgbClr val="1F1F1F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1F1F1F"/>
                </a:solidFill>
                <a:latin typeface="Calibri"/>
              </a:rPr>
              <a:t>Learner: 100 ✓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1F1F1F"/>
                </a:solidFill>
                <a:latin typeface="Calibri"/>
              </a:rPr>
              <a:t>Tutor: So 20% = 20/100. Simplest form?   </a:t>
            </a:r>
            <a:endParaRPr lang="en-US" sz="1200" b="0" dirty="0">
              <a:solidFill>
                <a:srgbClr val="1F1F1F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1F1F1F"/>
                </a:solidFill>
                <a:latin typeface="Calibri"/>
              </a:rPr>
              <a:t>Learner: I don’t know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0F7C8C"/>
                </a:solidFill>
                <a:latin typeface="Calibri"/>
              </a:rPr>
              <a:t>[gap at Level 2 → checking division]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1F1F1F"/>
                </a:solidFill>
                <a:latin typeface="Calibri"/>
              </a:rPr>
              <a:t>Tutor: What is 100 ÷ 20?   </a:t>
            </a:r>
            <a:endParaRPr lang="en-US" sz="1200" b="0" dirty="0">
              <a:solidFill>
                <a:srgbClr val="1F1F1F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1F1F1F"/>
                </a:solidFill>
                <a:latin typeface="Calibri"/>
              </a:rPr>
              <a:t>Learner: 5 ✓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1F1F1F"/>
                </a:solidFill>
                <a:latin typeface="Calibri"/>
              </a:rPr>
              <a:t>Tutor: So 20/100 = 1/5. What is 1/5 of 50?  Hint: 5 equal groups 📖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1F1F1F"/>
                </a:solidFill>
                <a:latin typeface="Calibri"/>
              </a:rPr>
              <a:t>Learner: 10 ✓      </a:t>
            </a:r>
            <a:endParaRPr lang="en-US" sz="1200" b="0" dirty="0">
              <a:solidFill>
                <a:srgbClr val="1F1F1F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1F1F1F"/>
                </a:solidFill>
                <a:latin typeface="Calibri"/>
              </a:rPr>
              <a:t>Tutor: And 1/4 of 20?   </a:t>
            </a:r>
            <a:endParaRPr lang="en-US" sz="1200" b="0" dirty="0">
              <a:solidFill>
                <a:srgbClr val="1F1F1F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1F1F1F"/>
                </a:solidFill>
                <a:latin typeface="Calibri"/>
              </a:rPr>
              <a:t>Learner: 5 ✓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0F7C8C"/>
                </a:solidFill>
                <a:latin typeface="Calibri"/>
              </a:rPr>
              <a:t>[back to Level 3]</a:t>
            </a:r>
          </a:p>
          <a:p>
            <a:pPr algn="l">
              <a:spcAft>
                <a:spcPts val="400"/>
              </a:spcAft>
            </a:pPr>
            <a:r>
              <a:rPr sz="1200" b="1" dirty="0">
                <a:solidFill>
                  <a:srgbClr val="1F1F1F"/>
                </a:solidFill>
                <a:latin typeface="Calibri"/>
              </a:rPr>
              <a:t>Tutor: Try again: 20% of 50?   </a:t>
            </a:r>
            <a:endParaRPr lang="en-US" sz="1200" b="1" dirty="0">
              <a:solidFill>
                <a:srgbClr val="1F1F1F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1" dirty="0">
                <a:solidFill>
                  <a:srgbClr val="1F1F1F"/>
                </a:solidFill>
                <a:latin typeface="Calibri"/>
              </a:rPr>
              <a:t>Learner: 10 ✓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1F1F1F"/>
                </a:solidFill>
                <a:latin typeface="Calibri"/>
              </a:rPr>
              <a:t>Tutor: Earlier you divided 50 by 20; a percentage means “out of 100”.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1F1F1F"/>
                </a:solidFill>
                <a:latin typeface="Calibri"/>
              </a:rPr>
              <a:t>         Next: 15% of 60?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0" y="2418588"/>
            <a:ext cx="402336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dirty="0">
                <a:solidFill>
                  <a:srgbClr val="0F7C8C"/>
                </a:solidFill>
                <a:latin typeface="Calibri"/>
              </a:rPr>
              <a:t>LLM API vs our tutor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0" y="2766060"/>
            <a:ext cx="4023360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dirty="0">
                <a:solidFill>
                  <a:srgbClr val="1F1F1F"/>
                </a:solidFill>
                <a:latin typeface="Calibri"/>
              </a:rPr>
              <a:t>API + prompt: “20/100 × 50 = 10.” Answer revealed; gap not found.</a:t>
            </a:r>
          </a:p>
          <a:p>
            <a:pPr algn="l">
              <a:spcAft>
                <a:spcPts val="400"/>
              </a:spcAft>
            </a:pPr>
            <a:r>
              <a:rPr sz="1300" b="1" dirty="0">
                <a:solidFill>
                  <a:srgbClr val="1F1F1F"/>
                </a:solidFill>
                <a:latin typeface="Calibri"/>
              </a:rPr>
              <a:t>Ours: finds the fraction gap, </a:t>
            </a:r>
            <a:r>
              <a:rPr sz="1300" b="1" dirty="0" err="1">
                <a:solidFill>
                  <a:srgbClr val="1F1F1F"/>
                </a:solidFill>
                <a:latin typeface="Calibri"/>
              </a:rPr>
              <a:t>practises</a:t>
            </a:r>
            <a:r>
              <a:rPr sz="1300" b="1" dirty="0">
                <a:solidFill>
                  <a:srgbClr val="1F1F1F"/>
                </a:solidFill>
                <a:latin typeface="Calibri"/>
              </a:rPr>
              <a:t> Level 2, returns to Level 3; learner finds 10.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Summary and sign-off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13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54864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7C8C"/>
                </a:solidFill>
                <a:latin typeface="Calibri"/>
              </a:rPr>
              <a:t>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486400" cy="411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A tutor that guides learners to the answer with probing questions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Our own trained models are the main brain: DKT, controller model, fine-tuned Socratic model, with guardrails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Backtracks across levels to fix gaps, then climbs back up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Links mistakes to the exact page, video or notes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Works for any subject with study material: NCERT (primary) and IITM BS (secondary) via course packs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Evaluated against an LLM-API + system-prompt tutor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188720"/>
          <a:ext cx="53035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Sandeep Nalla (21f1006125)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Hariom Kumar (23f2004225)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Hariom Pandey (21f3002112)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Mrityunjay Chakraborty (21f3001385)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9" name="Picture 8" descr="sandeep_nall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810512"/>
            <a:ext cx="851611" cy="402336"/>
          </a:xfrm>
          <a:prstGeom prst="rect">
            <a:avLst/>
          </a:prstGeom>
        </p:spPr>
      </p:pic>
      <p:pic>
        <p:nvPicPr>
          <p:cNvPr id="10" name="Picture 9" descr="hariom_kuma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0" y="2359152"/>
            <a:ext cx="1312382" cy="402336"/>
          </a:xfrm>
          <a:prstGeom prst="rect">
            <a:avLst/>
          </a:prstGeom>
        </p:spPr>
      </p:pic>
      <p:pic>
        <p:nvPicPr>
          <p:cNvPr id="11" name="Picture 10" descr="hariom_pandey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0" y="2907791"/>
            <a:ext cx="956140" cy="402336"/>
          </a:xfrm>
          <a:prstGeom prst="rect">
            <a:avLst/>
          </a:prstGeom>
        </p:spPr>
      </p:pic>
      <p:pic>
        <p:nvPicPr>
          <p:cNvPr id="12" name="Picture 11" descr="mrityunjay_chakraborty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4080" y="3456432"/>
            <a:ext cx="1471400" cy="4023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0" y="4023360"/>
            <a:ext cx="53035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Signed 22 October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2309</Words>
  <Application>Microsoft Office PowerPoint</Application>
  <PresentationFormat>Widescreen</PresentationFormat>
  <Paragraphs>300</Paragraphs>
  <Slides>13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NALLA SANDEEP</cp:lastModifiedBy>
  <cp:revision>3</cp:revision>
  <dcterms:created xsi:type="dcterms:W3CDTF">2013-01-27T09:14:16Z</dcterms:created>
  <dcterms:modified xsi:type="dcterms:W3CDTF">2026-10-24T18:29:40Z</dcterms:modified>
  <cp:category/>
</cp:coreProperties>
</file>