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is cross-referenced and propagated across levels. Levels map to NCERT classes (to be confirmed from the textbooks).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APIs play only a minor part; the main brain is our own DL/GenAI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ASSISTments row format (data sample required by the brief): each row is one answer by one student. Row 1: student 64525 got an Equivalent Fractions question wrong on the first try (correct = 0) and needed 2 hints. Row 2: on the next question on the same skill, they got it right (correct = 1) with no hints. DKT reads thousands of such sequences and learns, e.g., that this student is improving at equivalent fractions. Values show the format; they are not real rows from the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697480"/>
            <a:ext cx="1097280" cy="54864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Socratic AI Tutor</a:t>
            </a:r>
          </a:p>
          <a:p>
            <a:pPr algn="l">
              <a:spcAft>
                <a:spcPts val="400"/>
              </a:spcAft>
            </a:pPr>
            <a:r>
              <a:rPr sz="3200" b="0">
                <a:solidFill>
                  <a:srgbClr val="FFFFFF"/>
                </a:solidFill>
                <a:latin typeface="Calibri"/>
              </a:rPr>
              <a:t>Guiding learners to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FE6E9"/>
                </a:solidFill>
                <a:latin typeface="Calibri"/>
              </a:rPr>
              <a:t>An intelligent small-scale tutor that guides a learner to the answer through probing questions, backtracking across levels when needed. One pipeline, any course.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Milestone 1  ·  Group 2  ·  Data Science and AI Lab, IIT Madras BS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FE6E9"/>
                </a:solidFill>
                <a:latin typeface="Calibri"/>
              </a:rPr>
              <a:t>Sandeep Nalla (21f1006125)  ·  Hariom Kumar (23f2004225)  ·  Hariom Pandey (21f3002112)  ·  Mrityunjay Chakraborty (21f3001385)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FE6E9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364B"/>
                </a:solidFill>
                <a:latin typeface="Calibri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7C8C"/>
                </a:solidFill>
                <a:latin typeface="Calibri"/>
              </a:rPr>
              <a:t>Help the learner reach the answer themselves, instead of giving it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Group 2 · Socratic AI Tutor · 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1B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819656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1. Break down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the doubt into
sub-ideas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240280"/>
            <a:ext cx="32004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160020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1B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1600200"/>
            <a:ext cx="1819656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2. Probe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one question
at a time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240280"/>
            <a:ext cx="32004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160020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1B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600200"/>
            <a:ext cx="1819656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3. Feedback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spot misconceptions,
link a resource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240280"/>
            <a:ext cx="32004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160020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1B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1600200"/>
            <a:ext cx="1819656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4. Backtrack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to an earlier level
if there is a gap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240280"/>
            <a:ext cx="32004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92640" y="1600200"/>
            <a:ext cx="1965960" cy="1280160"/>
          </a:xfrm>
          <a:prstGeom prst="roundRect">
            <a:avLst>
              <a:gd name="adj" fmla="val 8000"/>
            </a:avLst>
          </a:prstGeom>
          <a:solidFill>
            <a:srgbClr val="1B3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1600200"/>
            <a:ext cx="1819656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5. Climb back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raise difficulty
step by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461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7C8C"/>
                </a:solidFill>
                <a:latin typeface="Calibri"/>
              </a:rPr>
              <a:t>Domain-agnostic: each subject is a “course pack”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3703320"/>
          <a:ext cx="11064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88920"/>
                <a:gridCol w="27889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Concepts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Prerequisite links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Study material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Questions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topics with IDs and levels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“A is needed before B”, across levels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PDFs, slides, transcripts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answers, hints, difficulty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548640" y="489204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892040"/>
            <a:ext cx="5248656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Primary: NCERT content (any subject)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public, complete data across classes and subjects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89204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892040"/>
            <a:ext cx="5248656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1F1F"/>
                </a:solidFill>
                <a:latin typeface="Calibri"/>
              </a:rPr>
              <a:t>Secondary: IITM BS course material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Maths → MLF → MLT, e.g. “How does training happen in Linear Regression?”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364B"/>
                </a:solidFill>
                <a:latin typeface="Calibri"/>
              </a:rPr>
              <a:t>Learning builds across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F7C8C"/>
                </a:solidFill>
                <a:latin typeface="Calibri"/>
              </a:rPr>
              <a:t>If a learner is stuck, the tutor finds the gap in an earlier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Group 2 · Socratic AI Tutor · Milestone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291840" cy="1280160"/>
          </a:xfrm>
          <a:prstGeom prst="roundRect">
            <a:avLst>
              <a:gd name="adj" fmla="val 8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3145536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Level 1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Addition · Subtraction
Multiplication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240280"/>
            <a:ext cx="54864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89120" y="1600200"/>
            <a:ext cx="3291840" cy="1280160"/>
          </a:xfrm>
          <a:prstGeom prst="roundRect">
            <a:avLst>
              <a:gd name="adj" fmla="val 8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600200"/>
            <a:ext cx="3145536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Level 2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Division
Fractions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0" y="2240280"/>
            <a:ext cx="54864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0" y="1600200"/>
            <a:ext cx="3291840" cy="1280160"/>
          </a:xfrm>
          <a:prstGeom prst="roundRect">
            <a:avLst>
              <a:gd name="adj" fmla="val 8000"/>
            </a:avLst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600200"/>
            <a:ext cx="3145536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Level 3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Decimals
Percentages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7C8C"/>
                </a:solidFill>
                <a:latin typeface="Calibri"/>
              </a:rPr>
              <a:t>Example: stuck on “What is 20% of 50?”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6118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0525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the tutor does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1. Probe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“What does 20% mean: 20 out of how many?”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2. Backtrack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Gap found in fractions (Level 2) → checks division → multiplication (Level 1) if needed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3. Practise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A few division and fraction questions with hints and a link to the NCERT page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4. Climb back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1/5 of 50 → 1/4 of 20 → back to 20% of 50 → harder: 15% of 60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364B"/>
                </a:solidFill>
                <a:latin typeface="Calibri"/>
              </a:rPr>
              <a:t>Existing solutions and their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Group 2 · Socratic AI Tutor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4 /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062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Good at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Missing for our problem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Khanmigo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Builds understanding by questioning students, based on their answers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External LLM (GPT-4) driven by prompts; no backtracking across levels; Khan content only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MathGPT.ai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Socratic tutor: withholds answers, guides with hints; 50+ US colleges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College maths only; no learner model or backtracking; closed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ChatGPT / Gemini / Claude learning modes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Natural conversation in a guiding, question-asking style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Driven by a system prompt; no memory of skills; can give away answers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MATHia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Adapts per student; step-by-step guidance, real-time feedback, targeted practice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Paid, closed; fixed maths curriculum; fixed step paths, no free conversation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Squirrel AI, ALEKS (adaptive)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Diagnose gaps on a knowledge graph; pick what to learn next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Recommend practice, no probing conversation; paid, closed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Alakh AI (Physics Wallah, NCERT)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24/7 doubt answering (text, photo, voice); questions from NCERT books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Mainly answers doubts; no probing or backtracking; closed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BYJU'S WIZ, Embibe (NCERT)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Knowledge tracing; Embibe tracks gaps from earlier grades; TeacherGPT guides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Closed, self-reported results; practice-based, not a probing conversation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091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7C8C"/>
                </a:solidFill>
                <a:latin typeface="Calibri"/>
              </a:rPr>
              <a:t>What we add: one open loop that converses, tracks the learner and backtracks across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•  Our own trained models as the main brain (not an LLM API with a system prompt), evaluated openly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•  Probing questions + backtracking across levels, then climbing back up to the learner’s question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•  Links to the exact page, video or notes; works for any subject via course packs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364B"/>
                </a:solidFill>
                <a:latin typeface="Calibri"/>
              </a:rPr>
              <a:t>Research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Group 2 · Socratic AI Tutor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5 / 10</a:t>
            </a:r>
          </a:p>
        </p:txBody>
      </p:sp>
      <p:pic>
        <p:nvPicPr>
          <p:cNvPr id="6" name="Picture 5" descr="kt_auc_assist2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675120" cy="30260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343400"/>
            <a:ext cx="658368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7C8C"/>
                </a:solidFill>
                <a:latin typeface="Calibri"/>
              </a:rPr>
              <a:t>Predicting student knowledge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1F1F"/>
                </a:solidFill>
                <a:latin typeface="Calibri"/>
              </a:rPr>
              <a:t>DKT (Deep Knowledge Tracing, an LSTM we will train) scores AUC 0.754 on cleaned ASSISTments data. 0.5 = random guess, 1.0 = perfect.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188720"/>
            <a:ext cx="4206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7C8C"/>
                </a:solidFill>
                <a:latin typeface="Calibri"/>
              </a:rPr>
              <a:t>AI chat tutors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45920"/>
            <a:ext cx="420624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Research on tutoring dialogues: prompted AI teachers often reveal the answer; fine-tuned models guide better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Bastani et al. 2025: plain GPT-4 → +48% in practice but −17% on the exam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Lesson: a system-prompted chatbot is not enough; the tutor needs its own trained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364B"/>
                </a:solidFill>
                <a:latin typeface="Calibri"/>
              </a:rPr>
              <a:t>Our approach: our own models are the main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Group 2 · Socratic AI Tutor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6 /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621792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Built by us?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Learner model (DKT)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✓ trained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Estimates what the learner knows for each concept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Tutor controller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✓ written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Decides: probe, hint, backtrack a level, retest, move up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Socratic question model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✓ fine-tuned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Qwen3-4B + LoRA on tutoring dialogues + our NCERT and IITM examples: writes probing questions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Misconception detector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✓ built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Spots common error patterns (e.g. 50 ÷ 20 instead of 20/100 × 50)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Search (RAG)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pretrained embeddings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Finds the page, video or notes for a concept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1F1F"/>
                          </a:solidFill>
                          <a:latin typeface="Calibri"/>
                        </a:rPr>
                        <a:t>External LLM API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✗ optional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1F1F"/>
                          </a:solidFill>
                          <a:latin typeface="Calibri"/>
                        </a:rPr>
                        <a:t>Only drafts practice questions offline (checked) and serves as a baseline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Stack: React web app · FastAPI backend · PostgreSQL + pgvector · PyTorch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New course = new course pack + ingestion script. New course with no student data → simple fallback until DKT is retrained.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364B"/>
                </a:solidFill>
                <a:latin typeface="Calibri"/>
              </a:rPr>
              <a:t>Datasets and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Group 2 · Socratic AI Tutor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7 /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5852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11680"/>
                <a:gridCol w="19202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NCERT textbooks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Course pack (primary)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several classes and subjects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ASSISTments 2009–10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Real student answer histories to train DKT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~346k answers, 4,217 students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EdNet KT1 (optional)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Train DKT (larger)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~95M answers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Tutoring dialogues + our examples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Fine-tune Socratic model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public set + written by us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IITM BS transcripts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Course pack (secondary)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gathered by us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77639"/>
            <a:ext cx="58521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Why ASSISTments for DKT: real, time-ordered student answers (none public for NCERT/IITM); the standard DKT benchmark, so our results can be checked; maths skills; free for research.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Licenses of all public datasets are checked before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58521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7C8C"/>
                </a:solidFill>
                <a:latin typeface="Calibri"/>
              </a:rPr>
              <a:t>ASSISTments row format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5303520"/>
          <a:ext cx="58521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743200"/>
                <a:gridCol w="1005840"/>
                <a:gridCol w="1005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student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hints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64525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Equivalent Fractions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64525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Equivalent Fractions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66560" y="1188720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7C8C"/>
                </a:solidFill>
                <a:latin typeface="Calibri"/>
              </a:rPr>
              <a:t>NCERT training example → Socratic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4937760" cy="3017520"/>
          </a:xfrm>
          <a:prstGeom prst="roundRect">
            <a:avLst>
              <a:gd name="adj" fmla="val 8000"/>
            </a:avLst>
          </a:prstGeom>
          <a:solidFill>
            <a:srgbClr val="E6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737360"/>
            <a:ext cx="466344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364B"/>
                </a:solidFill>
                <a:latin typeface="Calibri"/>
              </a:rPr>
              <a:t>Input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Concept: percentages (Level 3); prerequisite: fractions (Level 2)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Question: What is 20% of 50?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Learner: “2.5”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Controller action: PROBE the meaning of percent; don’t reveal the answer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Resource: NCERT Mathematics, chapter on percentages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B364B"/>
                </a:solidFill>
                <a:latin typeface="Calibri"/>
              </a:rPr>
              <a:t>Target reply (probing)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“Let’s check together. What does 20% mean: 20 out of how many?”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7C8C"/>
                </a:solidFill>
                <a:latin typeface="Calibri"/>
              </a:rPr>
              <a:t>Each example is labelled probing / focus / telling, so the model learns to probe instead of tell. Illustrative example written by the team.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364B"/>
                </a:solidFill>
                <a:latin typeface="Calibri"/>
              </a:rPr>
              <a:t>Baselines, targets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Group 2 · Socratic AI Tutor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8 /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47472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Compared with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Learner model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Simple accuracy; published DKT 0.754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0.74, better than simple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Socratic model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% replies revealing the answer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Base model; LLM API + system prompt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 5%, lower than both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Backtracking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% gaps found at the right level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LLM API + system prompt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85%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Correct resource in top 5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Keyword search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0.80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Full tutor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% test scenarios handled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Fixed rules; LLM API + system prompt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 90%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6052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7C8C"/>
                </a:solidFill>
                <a:latin typeface="Calibri"/>
              </a:rPr>
              <a:t>How we will evaluate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110642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60–100 annotated NCERT scenarios (careless slip, gap 1 level down, gap 2 levels down…) + any provided test samples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Compare: direct-answer chatbot vs LLM API with Socratic prompt vs our tutor; also vs published research numbers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Same tests on the NCERT and IITM BS course packs, with no code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364B"/>
                </a:solidFill>
                <a:latin typeface="Calibri"/>
              </a:rPr>
              <a:t>Expected output (mock-up)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Group 2 · Socratic AI Tutor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67665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F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658368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B364B"/>
                </a:solidFill>
                <a:latin typeface="Calibri"/>
              </a:rPr>
              <a:t>Learner: What is 20% of 50?  My answer: 2.5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Tutor: What does 20% mean: 20 out of how many?   Learner: 100 ✓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Tutor: So 20% = 20/100. Simplest form?   Learner: I don’t know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7C8C"/>
                </a:solidFill>
                <a:latin typeface="Calibri"/>
              </a:rPr>
              <a:t>[gap at Level 2 → checking division]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Tutor: What is 100 ÷ 20?   Learner: 5 ✓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Tutor: So 20/100 = 1/5. What is 1/5 of 50?  Hint: 5 equal groups 📖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Learner: 10 ✓      Tutor: And 1/4 of 20?   Learner: 5 ✓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0F7C8C"/>
                </a:solidFill>
                <a:latin typeface="Calibri"/>
              </a:rPr>
              <a:t>[back to Level 3]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F1F1F"/>
                </a:solidFill>
                <a:latin typeface="Calibri"/>
              </a:rPr>
              <a:t>Tutor: Try again: 20% of 50?   Learner: 10 ✓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Tutor: Earlier you divided 50 by 20; a percentage means “out of 100”.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F1F1F"/>
                </a:solidFill>
                <a:latin typeface="Calibri"/>
              </a:rPr>
              <a:t>         Next: 15% of 60?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143000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7C8C"/>
                </a:solidFill>
                <a:latin typeface="Calibri"/>
              </a:rPr>
              <a:t>Progress report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680960" y="1600200"/>
          <a:ext cx="4023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Concept (level)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Readiness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Multiplication (1)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3/3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Division (2)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2/2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Fractions (2)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1F1F"/>
                          </a:solidFill>
                          <a:latin typeface="Calibri"/>
                        </a:rPr>
                        <a:t>Percentages (3)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1F1F"/>
                          </a:solidFill>
                          <a:latin typeface="Calibri"/>
                        </a:rPr>
                        <a:t>0.58 · practise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0" y="3749039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F7C8C"/>
                </a:solidFill>
                <a:latin typeface="Calibri"/>
              </a:rPr>
              <a:t>LLM API vs our tutor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160520"/>
            <a:ext cx="40233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F1F1F"/>
                </a:solidFill>
                <a:latin typeface="Calibri"/>
              </a:rPr>
              <a:t>API + prompt: “20/100 × 50 = 10.” Answer revealed; gap not found.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F1F1F"/>
                </a:solidFill>
                <a:latin typeface="Calibri"/>
              </a:rPr>
              <a:t>Ours: finds the fraction gap, practises Level 2, returns to Level 3; learner finds 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364B"/>
                </a:solidFill>
                <a:latin typeface="Calibri"/>
              </a:rPr>
              <a:t>Summary and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Group 2 · Socratic AI Tutor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F7C8C"/>
                </a:solidFill>
                <a:latin typeface="Calibri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A tutor that guides learners to the answer with probing questions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Our own trained models are the main brain: DKT, controller, fine-tuned Socratic model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Backtracks across levels to fix gaps, then climbs back up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Links mistakes to the exact page, video or notes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Works for any subject with study material: NCERT (primary) and IITM BS (secondary) via course packs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•  Evaluated against an LLM-API + system-prompt tutor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18872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Signature</a:t>
                      </a:r>
                    </a:p>
                  </a:txBody>
                  <a:tcPr marL="54864" marR="54864" marT="27432" marB="27432">
                    <a:solidFill>
                      <a:srgbClr val="1B364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Sandeep Nalla (21f1006125)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Hariom Kumar (23f2004225)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Hariom Pandey (21f3002112)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Mrityunjay Chakraborty (21f3001385)</a:t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sandeep_nal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810512"/>
            <a:ext cx="851611" cy="402336"/>
          </a:xfrm>
          <a:prstGeom prst="rect">
            <a:avLst/>
          </a:prstGeom>
        </p:spPr>
      </p:pic>
      <p:pic>
        <p:nvPicPr>
          <p:cNvPr id="10" name="Picture 9" descr="hariom_kum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359152"/>
            <a:ext cx="1312382" cy="402336"/>
          </a:xfrm>
          <a:prstGeom prst="rect">
            <a:avLst/>
          </a:prstGeom>
        </p:spPr>
      </p:pic>
      <p:pic>
        <p:nvPicPr>
          <p:cNvPr id="11" name="Picture 10" descr="hariom_pandey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2907791"/>
            <a:ext cx="956140" cy="402336"/>
          </a:xfrm>
          <a:prstGeom prst="rect">
            <a:avLst/>
          </a:prstGeom>
        </p:spPr>
      </p:pic>
      <p:pic>
        <p:nvPicPr>
          <p:cNvPr id="12" name="Picture 11" descr="mrityunjay_chakrabort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3456432"/>
            <a:ext cx="1471400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402336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Signed 22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