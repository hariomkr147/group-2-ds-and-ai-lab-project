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is cross-referenced and propagated across levels. Levels map to NCERT classes (to be confirmed from the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APIs play only a minor part; the main brain is our own DL/GenAI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ASSISTments row format (data sample required by the brief): each row is one answer by one student. Row 1: student 64525 got an Equivalent Fractions question wrong on the first try (correct = 0) and needed 2 hints. Row 2: on the next question on the same skill, they got it right (correct = 1) with no hints. DKT reads thousands of such sequences and learns, e.g., that this student is improving at equivalent fractions. Values show the format; they are not real rows from the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697480"/>
            <a:ext cx="1097280" cy="54864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Socratic AI Tutor</a:t>
            </a:r>
          </a:p>
          <a:p>
            <a:pPr algn="l">
              <a:spcAft>
                <a:spcPts val="40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Guiding learners to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E6E9"/>
                </a:solidFill>
                <a:latin typeface="Calibri"/>
              </a:rPr>
              <a:t>An intelligent small-scale tutor that guides a learner to the answer through probing questions, backtracking across levels when needed. One pipeline, any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Milestone 1  ·  Group 2  ·  Data Science and AI Lab, IIT Madras 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FE6E9"/>
                </a:solidFill>
                <a:latin typeface="Calibri"/>
              </a:rPr>
              <a:t>Sandeep Nalla (21f1006125)  ·  Hariom Kumar (23f2004225)  ·  Hariom Pandey (21f3002112)  ·  Mrityunjay Chakraborty (21f3001385)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E6E9"/>
                </a:solidFill>
                <a:latin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Help the learner reach the answer themselves, instead of giving it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1. Break down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doubt into
sub-ideas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7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2. Probe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one question
at a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00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20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3. Feedback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spot misconceptions,
link a resource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4. Backtrack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to an earlier level
if there is a gap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72600" y="2240280"/>
            <a:ext cx="3200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92640" y="1600200"/>
            <a:ext cx="1965960" cy="1280160"/>
          </a:xfrm>
          <a:prstGeom prst="roundRect">
            <a:avLst>
              <a:gd name="adj" fmla="val 8000"/>
            </a:avLst>
          </a:prstGeom>
          <a:solidFill>
            <a:srgbClr val="1B3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1600200"/>
            <a:ext cx="181965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5. Climb back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raise difficulty
step by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2461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Domain-agnostic: each subject is a “course pack”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03320"/>
          <a:ext cx="110642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88920"/>
                <a:gridCol w="2788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Concepts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Prerequisite links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Study material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topics with IDs and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“A is needed before B”, across levels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PDFs, slides,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answers, hints, difficulty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4864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NCERT content (any subject)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public, complete data across classes and subjects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9204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892040"/>
            <a:ext cx="5248656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Secondary: IITM BS course material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Maths → MLF → MLT, e.g. “How does training happen in Linear Regression?”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Learning builds across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7C8C"/>
                </a:solidFill>
                <a:latin typeface="Calibri"/>
              </a:rPr>
              <a:t>If a learner is stuck, the tutor finds the gap in an earlier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1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Addition · Subtraction
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8912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1F1F1F"/>
                </a:solidFill>
                <a:latin typeface="Calibri"/>
              </a:rPr>
              <a:t>Level 2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Division
Fractions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0" y="2240280"/>
            <a:ext cx="54864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0" y="1600200"/>
            <a:ext cx="3291840" cy="1280160"/>
          </a:xfrm>
          <a:prstGeom prst="roundRect">
            <a:avLst>
              <a:gd name="adj" fmla="val 8000"/>
            </a:avLst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00200"/>
            <a:ext cx="3145536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Level 3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Decimals
Percentages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Example: stuck on “What is 20% of 50?”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6118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52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the tutor does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1. Probe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“What does 20% mean: 20 out of how many?”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2. Backtrack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Gap found in fractions (Level 2) → checks division → multiplication (Level 1) if needed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3. Practise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 few division and fraction questions with hints and a link to the NCERT page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4. Climb back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1/5 of 50 → 1/4 of 20 → back to 20% of 50 → harder: 15% of 60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Existing solutions and their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Missing for our problem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Khanmigo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Builds understanding by questioning students, based on their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External LLM (GPT-4) driven by prompts; no backtracking across levels; Khan content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MathGPT.ai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Socratic tutor: withholds answers, guides with hints; 50+ US colleges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College maths only; no learner model or backtracking;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ChatGPT / Gemini / Claude learning modes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Natural conversation in a guiding, question-asking style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Driven by a system prompt; no memory of skills; can give away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MATHia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Adapts per student; step-by-step guidance, real-time feedback, targeted practice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Paid, closed; fixed maths curriculum; fixed step paths, no free conversation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Squirrel AI, ALEKS (adaptive)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Diagnose gaps on a knowledge graph; pick what to learn next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Recommend practice, no probing conversation; paid, closed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Alakh AI (Physics Wallah, NCERT)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24/7 doubt answering (text, photo, voice); questions from NCERT books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Mainly answers doubts; no probing or backtracking; closed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1F1F"/>
                          </a:solidFill>
                          <a:latin typeface="Calibri"/>
                        </a:rPr>
                        <a:t>BYJU'S WIZ, Embibe (NCERT)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Knowledge tracing; Embibe tracks gaps from earlier grades; TeacherGPT guides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1F1F"/>
                          </a:solidFill>
                          <a:latin typeface="Calibri"/>
                        </a:rPr>
                        <a:t>Closed, self-reported results; practice-based, not a probing conversation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091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What we add: one open loop that converses, tracks the learner and backtracks across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Our own trained models as the main brain (not an LLM API with a system prompt), evaluated openly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Probing questions + backtracking across levels, then climbing back up to the learner’s question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•  Links to the exact page, video or notes; works for any subject via course packs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Research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10</a:t>
            </a:r>
          </a:p>
        </p:txBody>
      </p:sp>
      <p:pic>
        <p:nvPicPr>
          <p:cNvPr id="6" name="Picture 5" descr="kt_auc_assist2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675120" cy="3026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5836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Predicting student knowledge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F1F1F"/>
                </a:solidFill>
                <a:latin typeface="Calibri"/>
              </a:rPr>
              <a:t>DKT (Deep Knowledge Tracing, an LSTM we will train) scores AUC 0.754 on cleaned ASSISTments data. 0.5 = random guess, 1.0 = perfect.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88720"/>
            <a:ext cx="4206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AI chat tutors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45920"/>
            <a:ext cx="420624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Research on tutoring dialogues: prompted AI teachers often reveal the answer; fine-tuned models guide better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Bastani et al. 2025: plain GPT-4 → +48% in practice but −17% on the exam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Lesson: a system-prompted chatbot is not enough; the tutor needs its own trained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Our approach: our own models are the main 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62179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Built by us?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Learner model (DKT)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trained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Estimates what the learner knows for each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Tutor controller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written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Decides: probe, hint, backtrack a level, retest, move up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Socratic question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fine-tuned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Qwen3-4B + LoRA on tutoring dialogues + our NCERT and IITM examples: writes probing questions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Misconception detector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✓ built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Spots common error patterns (e.g. 50 ÷ 20 instead of 20/100 × 50)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Search (RAG)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pretrained embeddings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Finds the page, video or notes for a concept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External LLM API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✗ optional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Only drafts practice questions offline (checked) and serves as a baseline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Stack: React web app · FastAPI backend · PostgreSQL + pgvector · PyTorch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New course = new course pack + ingestion script. New course with no student data → simple fallback until DKT is retrained.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Datasets and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19202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NCERT textbooks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(primary)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several classes and subjects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ASSISTments 2009–10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Real student answer histories to train DKT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~346k answers, 4,217 students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EdNet KT1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Train DKT (larger)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~95M answers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Tutoring dialogues + our examples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Fine-tune 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public set + written by us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IITM BS transcripts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Course pack (secondary)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gathered by us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977639"/>
            <a:ext cx="5852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Why ASSISTments for DKT: real, time-ordered student answers (none public for NCERT/IITM); the standard DKT benchmark, so our results can be checked; maths skills; free for research.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Licenses of all public datasets are checked before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852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ASSISTments row format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5303520"/>
          <a:ext cx="58521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1005840"/>
                <a:gridCol w="10058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hints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64525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Equivalent Fractions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766560" y="118872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NCERT training example → Socratic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645920"/>
            <a:ext cx="4937760" cy="3017520"/>
          </a:xfrm>
          <a:prstGeom prst="roundRect">
            <a:avLst>
              <a:gd name="adj" fmla="val 8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737360"/>
            <a:ext cx="466344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Input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Concept: percentages (Level 3); prerequisite: fractions (Level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Question: What is 20% of 50?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“2.5”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Controller action: PROBE the meaning of percent; don’t reveal the answer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Resource: NCERT Mathematics, chapter on percentages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Target reply (probing)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“Let’s check together. What does 20% mean: 20 out of how many?”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Each example is labelled probing / focus / telling, so the model learns to probe instead of tell. Illustrative example written by the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Baselines, targets and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3474720"/>
                <a:gridCol w="2468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Compared with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Learner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Simple accuracy; published DKT 0.754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0.74, better than simple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Socratic model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replies revealing the answer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Base model; LLM API + system prompt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≤ 5%, lower than both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Backtracking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gaps found at the right level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resource in top 5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Keyword search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0.80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Full tutor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% test scenarios handled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Fixed rules; LLM API + system prompt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≥ 90%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6052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How we will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60–100 annotated NCERT scenarios (careless slip, gap 1 level down, gap 2 levels down…) + any provided test samples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Compare: direct-answer chatbot vs LLM API with Socratic prompt vs our tutor; also vs published research numbers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Same tests on the NCERT and IITM BS course packs, with no code changes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Expected output (mock-up)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43000"/>
            <a:ext cx="6766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F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658368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B364B"/>
                </a:solidFill>
                <a:latin typeface="Calibri"/>
              </a:rPr>
              <a:t>Learner: What is 20% of 50?  My answer: 2.5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does 20% mean: 20 out of how many?   Learner: 100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20% = 20/100. Simplest form?   Learner: I don’t know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[gap at Level 2 → checking division]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What is 100 ÷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So 20/100 = 1/5. What is 1/5 of 50?  Hint: 5 equal groups 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Learner: 10 ✓      Tutor: And 1/4 of 20?   Learner: 5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7C8C"/>
                </a:solidFill>
                <a:latin typeface="Calibri"/>
              </a:rPr>
              <a:t>[back to Level 3]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1F1F1F"/>
                </a:solidFill>
                <a:latin typeface="Calibri"/>
              </a:rPr>
              <a:t>Tutor: Try again: 20% of 50?   Learner: 10 ✓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Tutor: Earlier you divided 50 by 20; a percentage means “out of 100”.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F1F1F"/>
                </a:solidFill>
                <a:latin typeface="Calibri"/>
              </a:rPr>
              <a:t>         Next: 15% of 60?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14300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Progress report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80960" y="1600200"/>
          <a:ext cx="4023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Concept (level)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Correct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Readiness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Multiplication 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3/3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Division (2)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2/2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Fractions (2)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Percentages (3)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0.58 · practise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3749039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7C8C"/>
                </a:solidFill>
                <a:latin typeface="Calibri"/>
              </a:rPr>
              <a:t>LLM API vs our tutor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40233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F1F1F"/>
                </a:solidFill>
                <a:latin typeface="Calibri"/>
              </a:rPr>
              <a:t>API + prompt: “20/100 × 50 = 10.” Answer revealed; gap not found.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1F1F1F"/>
                </a:solidFill>
                <a:latin typeface="Calibri"/>
              </a:rPr>
              <a:t>Ours: finds the fraction gap, practises Level 2, returns to Level 3; learner finds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B364B"/>
                </a:solidFill>
                <a:latin typeface="Calibri"/>
              </a:rPr>
              <a:t>Summary and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Group 2 · Socratic AI Tutor · Milestone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F7C8C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A tutor that guides learners to the answer with probing questions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Our own trained models are the main brain: DKT, controller, fine-tuned Socratic model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Backtracks across levels to fix gaps, then climbs back up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Links mistakes to the exact page, video or notes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Works for any subject with study material: NCERT (primary) and IITM BS (secondary) via course packs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F1F1F"/>
                </a:solidFill>
                <a:latin typeface="Calibri"/>
              </a:rPr>
              <a:t>•  Evaluated against an LLM-API + system-prompt tutor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8872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1B364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Sandeep Nalla (21f1006125)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Kumar (23f2004225)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Hariom Pandey (21f3002112)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Mrityunjay Chakraborty (21f3001385)</a:t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sandeep_nal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810512"/>
            <a:ext cx="851611" cy="402336"/>
          </a:xfrm>
          <a:prstGeom prst="rect">
            <a:avLst/>
          </a:prstGeom>
        </p:spPr>
      </p:pic>
      <p:pic>
        <p:nvPicPr>
          <p:cNvPr id="10" name="Picture 9" descr="hariom_kum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359152"/>
            <a:ext cx="1312382" cy="402336"/>
          </a:xfrm>
          <a:prstGeom prst="rect">
            <a:avLst/>
          </a:prstGeom>
        </p:spPr>
      </p:pic>
      <p:pic>
        <p:nvPicPr>
          <p:cNvPr id="11" name="Picture 10" descr="mrityunjay_chakrabor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3456432"/>
            <a:ext cx="1471400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4023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Signed 22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